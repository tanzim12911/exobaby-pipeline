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Amatic SC"/>
      <p:regular r:id="rId27"/>
      <p:bold r:id="rId28"/>
    </p:embeddedFont>
    <p:embeddedFont>
      <p:font typeface="Source Code Pr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AmaticSC-bold.fntdata"/><Relationship Id="rId27" Type="http://schemas.openxmlformats.org/officeDocument/2006/relationships/font" Target="fonts/AmaticSC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ourceCodePr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ourceCodePro-italic.fntdata"/><Relationship Id="rId30" Type="http://schemas.openxmlformats.org/officeDocument/2006/relationships/font" Target="fonts/SourceCodePr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SourceCodePr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d15c6ee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d15c6ee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0dfc364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0dfc36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b0dfc364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b0dfc364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b0dfc364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b0dfc364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b0dfc364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b0dfc364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b0dfc364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b0dfc364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cd4167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cd4167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cd4167aa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cd4167aa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cd4167aa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cd4167aa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cd4167aa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cd4167aa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cd4167aa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cd4167aa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cd4167aa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cd4167aa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c23a48d4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c23a48d4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cd4167aa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cd4167aa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cd4167aa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cd4167aa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cd4167aa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cd4167aa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b0dfc36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b0dfc36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cd4167aa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cd4167aa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b0dfc364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b0dfc364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cd4167aa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cd4167aa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063be44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063be44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44500" y="4789500"/>
            <a:ext cx="14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Source Code Pro"/>
                <a:ea typeface="Source Code Pro"/>
                <a:cs typeface="Source Code Pro"/>
                <a:sym typeface="Source Code Pro"/>
              </a:rPr>
              <a:t>Kate Saenko</a:t>
            </a:r>
            <a:endParaRPr sz="11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cs.stanford.edu/people/karpathy/densecap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392150"/>
            <a:ext cx="8520600" cy="19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write the introduction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three easy steps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407600" y="2539625"/>
            <a:ext cx="6328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for a research paper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talk will show how to write an introduction to a research paper in 3 easy steps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STEP1: make a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STEP2: write!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STEP3: edit edit edit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make a plan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01075" cy="3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make a plan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down </a:t>
            </a:r>
            <a:r>
              <a:rPr b="1" lang="en"/>
              <a:t>in bullets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contribution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problem is it solving?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evaluation that proves it?</a:t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make a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example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8625"/>
            <a:ext cx="4660200" cy="3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Contribution: 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Propose dense caption task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Design new end-to-end model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Problem: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Current methods fail...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one has tried this</a:t>
            </a:r>
            <a:r>
              <a:rPr lang="en" sz="1400"/>
              <a:t>...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Evaluation: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Compare to baseline X on dataset 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Tease a promising result</a:t>
            </a:r>
            <a:endParaRPr sz="1400"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5221775" y="4687750"/>
            <a:ext cx="39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https://cs.stanford.edu/people/karpathy/densecap.pdf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idea is better than many!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02" y="505800"/>
            <a:ext cx="2463450" cy="355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625" y="1990095"/>
            <a:ext cx="1498500" cy="1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267650" y="4409500"/>
            <a:ext cx="4279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Good: reader has an “aha!” moment</a:t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4714900" y="4287225"/>
            <a:ext cx="42792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Bad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 too many things at once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28675"/>
            <a:ext cx="6075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Re-write bullets</a:t>
            </a:r>
            <a:r>
              <a:rPr lang="en"/>
              <a:t> into following structure</a:t>
            </a:r>
            <a:r>
              <a:rPr baseline="30000" lang="en"/>
              <a:t>*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state-of-the-art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flaw in state-of-the-art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idea/solution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proof it works</a:t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446425" y="4436150"/>
            <a:ext cx="792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aseline="30000" lang="en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*</a:t>
            </a:r>
            <a:r>
              <a:rPr lang="en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this is usually easier to do for beginners than starting with this structure </a:t>
            </a:r>
            <a:endParaRPr sz="11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20"/>
          <p:cNvSpPr txBox="1"/>
          <p:nvPr/>
        </p:nvSpPr>
        <p:spPr>
          <a:xfrm>
            <a:off x="5234625" y="3614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title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5234625" y="1771650"/>
            <a:ext cx="10425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abstract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951500" y="1232025"/>
            <a:ext cx="10425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figure 1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5247250" y="318187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task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247250" y="41852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flaw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8331000" y="2517325"/>
            <a:ext cx="6630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idea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8187900" y="41852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proof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234625" y="3650638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SotA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TASK</a:t>
            </a:r>
            <a:endParaRPr>
              <a:highlight>
                <a:srgbClr val="F4CCCC"/>
              </a:highlight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21"/>
          <p:cNvSpPr txBox="1"/>
          <p:nvPr/>
        </p:nvSpPr>
        <p:spPr>
          <a:xfrm>
            <a:off x="5247250" y="318187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task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771650"/>
            <a:ext cx="4923000" cy="32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What can it do?</a:t>
            </a: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State the task your model solves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Usually only need one sentence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Can mention applications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Why do we need this?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Avoid reader frustration!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(reads to page 7): oh, they’re doing detection, not classification!? $#@#$%!!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State-of-the-art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22"/>
          <p:cNvSpPr txBox="1"/>
          <p:nvPr/>
        </p:nvSpPr>
        <p:spPr>
          <a:xfrm>
            <a:off x="5234625" y="3650638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SotA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885950"/>
            <a:ext cx="47034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What is the best we can do now?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Briefly cite recent work (direct competition)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Get the reader excited about area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“Significant progress”, “exciting results”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Common mistakes: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Writing more than one paragraph (that is what related work is for!)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Diminishing prior work. You’re standing on the shoulders of giants. Praise is better.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FLAW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3"/>
          <p:cNvSpPr txBox="1"/>
          <p:nvPr/>
        </p:nvSpPr>
        <p:spPr>
          <a:xfrm>
            <a:off x="5247250" y="41852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flaw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760225"/>
            <a:ext cx="4923000" cy="32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What can’t we do yet?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Font typeface="Verdana"/>
              <a:buChar char="-"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What is the critical flaw in SotA? (you’ll be providing a solution to this later...)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-"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Why </a:t>
            </a: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should</a:t>
            </a: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 the reader care? No, really?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-"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Why can’t X, Y or Z be used to solve this?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Engage the reader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Font typeface="Verdana"/>
              <a:buChar char="-"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Use an example: text, or visual (see Figure 1)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Verdana"/>
              <a:buChar char="-"/>
            </a:pPr>
            <a:r>
              <a:rPr lang="en" sz="1300">
                <a:latin typeface="Verdana"/>
                <a:ea typeface="Verdana"/>
                <a:cs typeface="Verdana"/>
                <a:sym typeface="Verdana"/>
              </a:rPr>
              <a:t>At the end, the reader should be thinking, wow, this is really a important problem! I really wish someone would try to solve it!!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idea</a:t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24"/>
          <p:cNvSpPr txBox="1"/>
          <p:nvPr/>
        </p:nvSpPr>
        <p:spPr>
          <a:xfrm>
            <a:off x="8331000" y="2517325"/>
            <a:ext cx="6630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idea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756400"/>
            <a:ext cx="4923000" cy="30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What you propose to fix the flaw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The “hero” 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Comes to the rescue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Keep it brief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Give the main intuition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“We solve this by adding a new DNN layer”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Leave the gory details to the method section!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Tip: if you have 2 ideas, describe each ‘flaw’ before you introduce each idea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figure 1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25"/>
          <p:cNvSpPr txBox="1"/>
          <p:nvPr/>
        </p:nvSpPr>
        <p:spPr>
          <a:xfrm>
            <a:off x="7951500" y="1232025"/>
            <a:ext cx="10425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figure 1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311700" y="1874525"/>
            <a:ext cx="4923000" cy="31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“Must have” for a vision paper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Convey the flaw and idea visually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Like an “ad” for your paper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Many people ONLY look at this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If it looks interesting, they will also check the main result table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Caption should be self-explanatory, since they may not read the main text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figure 1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82650" y="122212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021" y="2134250"/>
            <a:ext cx="3885653" cy="2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0" t="79737"/>
          <a:stretch/>
        </p:blipFill>
        <p:spPr>
          <a:xfrm>
            <a:off x="475300" y="4220800"/>
            <a:ext cx="3885650" cy="53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21085" l="56151" r="2757" t="43515"/>
          <a:stretch/>
        </p:blipFill>
        <p:spPr>
          <a:xfrm>
            <a:off x="827076" y="2309987"/>
            <a:ext cx="3182101" cy="185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235575" y="1881800"/>
            <a:ext cx="377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FFE599"/>
                </a:highlight>
                <a:latin typeface="Verdana"/>
                <a:ea typeface="Verdana"/>
                <a:cs typeface="Verdana"/>
                <a:sym typeface="Verdana"/>
              </a:rPr>
              <a:t> OK figure </a:t>
            </a:r>
            <a:r>
              <a:rPr lang="en" sz="1300">
                <a:solidFill>
                  <a:schemeClr val="dk2"/>
                </a:solidFill>
                <a:highlight>
                  <a:srgbClr val="FFE599"/>
                </a:highlight>
                <a:latin typeface="Verdana"/>
                <a:ea typeface="Verdana"/>
                <a:cs typeface="Verdana"/>
                <a:sym typeface="Verdana"/>
              </a:rPr>
              <a:t>:|  illustrates the task well</a:t>
            </a:r>
            <a:endParaRPr sz="1500">
              <a:highlight>
                <a:srgbClr val="FFE599"/>
              </a:highlight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4799950" y="1686425"/>
            <a:ext cx="365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Better :) shows flaw in prior work</a:t>
            </a:r>
            <a:endParaRPr sz="1500">
              <a:highlight>
                <a:srgbClr val="B6D7A8"/>
              </a:highlight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3413525" y="4260075"/>
            <a:ext cx="896400" cy="13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Proof</a:t>
            </a:r>
            <a:endParaRPr/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7"/>
          <p:cNvSpPr txBox="1"/>
          <p:nvPr/>
        </p:nvSpPr>
        <p:spPr>
          <a:xfrm>
            <a:off x="8187900" y="41852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proof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311700" y="1228675"/>
            <a:ext cx="4923000" cy="3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11700" y="1737350"/>
            <a:ext cx="4923000" cy="3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Does it work?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Say a bit about evaluation and baselines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Don’t give all away, but tease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E.g. “our method lowers reconstruction error by 20% compared to previous methods”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title</a:t>
            </a:r>
            <a:endParaRPr>
              <a:highlight>
                <a:srgbClr val="F4CCCC"/>
              </a:highlight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28"/>
          <p:cNvSpPr txBox="1"/>
          <p:nvPr/>
        </p:nvSpPr>
        <p:spPr>
          <a:xfrm>
            <a:off x="5234625" y="361425"/>
            <a:ext cx="8061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title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311700" y="1719600"/>
            <a:ext cx="4815300" cy="3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Specific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: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DenseCap: Fully Convolutional Localization Networks for Dense Captioning </a:t>
            </a:r>
            <a:r>
              <a:rPr lang="en" sz="1200">
                <a:highlight>
                  <a:srgbClr val="D9EAD3"/>
                </a:highlight>
                <a:latin typeface="Verdana"/>
                <a:ea typeface="Verdana"/>
                <a:cs typeface="Verdana"/>
                <a:sym typeface="Verdana"/>
              </a:rPr>
              <a:t>:)</a:t>
            </a:r>
            <a:endParaRPr sz="1200">
              <a:highlight>
                <a:srgbClr val="D9EAD3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 Network for Describing Images </a:t>
            </a:r>
            <a:r>
              <a:rPr lang="en" sz="1200">
                <a:highlight>
                  <a:srgbClr val="EA9999"/>
                </a:highlight>
                <a:latin typeface="Verdana"/>
                <a:ea typeface="Verdana"/>
                <a:cs typeface="Verdana"/>
                <a:sym typeface="Verdana"/>
              </a:rPr>
              <a:t>:(</a:t>
            </a:r>
            <a:endParaRPr sz="1200">
              <a:highlight>
                <a:srgbClr val="EA9999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A Deep Learning Approach Based on Convolutional Neural Network… </a:t>
            </a:r>
            <a:r>
              <a:rPr lang="en" sz="1200">
                <a:highlight>
                  <a:srgbClr val="EA9999"/>
                </a:highlight>
                <a:latin typeface="Verdana"/>
                <a:ea typeface="Verdana"/>
                <a:cs typeface="Verdana"/>
                <a:sym typeface="Verdana"/>
              </a:rPr>
              <a:t>:(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Memorable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If using acronym/abbreviation make sure it is easy to spell and pronounce, e.g. FCLN </a:t>
            </a:r>
            <a:r>
              <a:rPr lang="en" sz="1200">
                <a:highlight>
                  <a:srgbClr val="EA9999"/>
                </a:highlight>
                <a:latin typeface="Verdana"/>
                <a:ea typeface="Verdana"/>
                <a:cs typeface="Verdana"/>
                <a:sym typeface="Verdana"/>
              </a:rPr>
              <a:t>:(</a:t>
            </a: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 vs DenseCap </a:t>
            </a:r>
            <a:r>
              <a:rPr lang="en" sz="1200">
                <a:highlight>
                  <a:srgbClr val="D9EAD3"/>
                </a:highlight>
                <a:latin typeface="Verdana"/>
                <a:ea typeface="Verdana"/>
                <a:cs typeface="Verdana"/>
                <a:sym typeface="Verdana"/>
              </a:rPr>
              <a:t>:)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Best if conveys central idea, “dense captioning”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-"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“It’s a bird! It’s a plane! …” and other catchphrases: can be corny, proceed with caution </a:t>
            </a:r>
            <a:r>
              <a:rPr lang="en" sz="1200"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!!!</a:t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expanD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Abstract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311700" y="1834975"/>
            <a:ext cx="4923000" cy="31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Concise: 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Summary of task and contributions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Write this last! Copy-paste, rephrase, done!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Audience: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Meant for general audience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-"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“Grandmother” should get the gist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50" y="140450"/>
            <a:ext cx="3746747" cy="4850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29"/>
          <p:cNvSpPr txBox="1"/>
          <p:nvPr/>
        </p:nvSpPr>
        <p:spPr>
          <a:xfrm>
            <a:off x="5234625" y="1771650"/>
            <a:ext cx="1042500" cy="38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abstract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write!</a:t>
            </a:r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55300" cy="38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write!</a:t>
            </a:r>
            <a:endParaRPr/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By now, you should have your introduction outlined in several dozen bullets, so the rest should be much easier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This would be a good time to run it by others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Expand each bullet into sentence/paragraph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Fill in details along the way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edit edit edit</a:t>
            </a:r>
            <a:endParaRPr/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675" y="198125"/>
            <a:ext cx="710565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edit edit edit</a:t>
            </a:r>
            <a:endParaRPr/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Some lucky people can write near-perfect text in one go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Most of us are not so lucky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 re-write my drafts many times, sometimes dozens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Important to get feedback from your advisor/labmates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it!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Now you just have the rest of the paper to write :)</a:t>
            </a:r>
            <a:endParaRPr/>
          </a:p>
        </p:txBody>
      </p:sp>
      <p:sp>
        <p:nvSpPr>
          <p:cNvPr id="251" name="Google Shape;25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